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68" r:id="rId4"/>
    <p:sldId id="269" r:id="rId5"/>
    <p:sldId id="266" r:id="rId6"/>
    <p:sldId id="267" r:id="rId7"/>
    <p:sldId id="263" r:id="rId8"/>
    <p:sldId id="264" r:id="rId9"/>
    <p:sldId id="259" r:id="rId10"/>
    <p:sldId id="258" r:id="rId11"/>
    <p:sldId id="260"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2" d="100"/>
          <a:sy n="72" d="100"/>
        </p:scale>
        <p:origin x="27"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fr-CA"/>
              <a:t>Modifier le style du titre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8560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nchor="ct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7088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fr-CA"/>
              <a:t>Modifier le style du titre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47538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60360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CA"/>
              <a:t>Modifier le style du titre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C353A83A-E35E-4DD9-83DC-AFB1C3763C6A}" type="datetimeFigureOut">
              <a:rPr lang="fr-CA" smtClean="0"/>
              <a:t>2026-03-29</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59695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C353A83A-E35E-4DD9-83DC-AFB1C3763C6A}" type="datetimeFigureOut">
              <a:rPr lang="fr-CA" smtClean="0"/>
              <a:t>2026-03-29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128134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53A83A-E35E-4DD9-83DC-AFB1C3763C6A}" type="datetimeFigureOut">
              <a:rPr lang="fr-CA" smtClean="0"/>
              <a:t>2026-03-29</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1977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fr-CA"/>
              <a:t>Modifier le style du titre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5983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fr-CA"/>
              <a:t>Modifier le style du titre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CA"/>
              <a:t>Cliquez sur l'icône pour ajouter une image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353A83A-E35E-4DD9-83DC-AFB1C3763C6A}" type="datetimeFigureOut">
              <a:rPr lang="fr-CA" smtClean="0"/>
              <a:t>2026-03-29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258475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CA"/>
              <a:t>Cliquez sur l'icône pour ajouter une image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CA"/>
              <a:t>Cliquez pour modifier les styles du texte du masque</a:t>
            </a:r>
          </a:p>
        </p:txBody>
      </p:sp>
      <p:sp>
        <p:nvSpPr>
          <p:cNvPr id="3" name="Date Placeholder 2"/>
          <p:cNvSpPr>
            <a:spLocks noGrp="1"/>
          </p:cNvSpPr>
          <p:nvPr>
            <p:ph type="dt" sz="half" idx="10"/>
          </p:nvPr>
        </p:nvSpPr>
        <p:spPr/>
        <p:txBody>
          <a:bodyPr/>
          <a:lstStyle/>
          <a:p>
            <a:fld id="{C353A83A-E35E-4DD9-83DC-AFB1C3763C6A}" type="datetimeFigureOut">
              <a:rPr lang="fr-CA" smtClean="0"/>
              <a:t>2026-03-29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7969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fr-CA"/>
              <a:t>Modifier le style du titre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3551970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fr-CA"/>
              <a:t>Modifier le style du titre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CA"/>
              <a:t>Cliquez pour modifier les styles du texte du masque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33243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fr-CA"/>
              <a:t>Modifier le style du titre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14878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fr-CA"/>
              <a:t>Modifier le style du titre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CA"/>
              <a:t>Cliquez pour modifier les styles du texte du masque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1994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fr-CA"/>
              <a:t>Modifier le style du titre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CA"/>
              <a:t>Cliquez pour modifier les styles du texte du masque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2300263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4159395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fr-CA"/>
              <a:t>Modifier le style du titre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353A83A-E35E-4DD9-83DC-AFB1C3763C6A}" type="datetimeFigureOut">
              <a:rPr lang="fr-CA" smtClean="0"/>
              <a:t>2026-03-29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6FB750EF-26F8-43D6-9966-104DC202753A}" type="slidenum">
              <a:rPr lang="fr-CA" smtClean="0"/>
              <a:t>‹#›</a:t>
            </a:fld>
            <a:endParaRPr lang="fr-CA"/>
          </a:p>
        </p:txBody>
      </p:sp>
    </p:spTree>
    <p:extLst>
      <p:ext uri="{BB962C8B-B14F-4D97-AF65-F5344CB8AC3E}">
        <p14:creationId xmlns:p14="http://schemas.microsoft.com/office/powerpoint/2010/main" val="1633835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353A83A-E35E-4DD9-83DC-AFB1C3763C6A}" type="datetimeFigureOut">
              <a:rPr lang="fr-CA" smtClean="0"/>
              <a:t>2026-03-29</a:t>
            </a:fld>
            <a:endParaRPr lang="fr-CA"/>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fr-CA"/>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FB750EF-26F8-43D6-9966-104DC202753A}" type="slidenum">
              <a:rPr lang="fr-CA" smtClean="0"/>
              <a:t>‹#›</a:t>
            </a:fld>
            <a:endParaRPr lang="fr-CA"/>
          </a:p>
        </p:txBody>
      </p:sp>
    </p:spTree>
    <p:extLst>
      <p:ext uri="{BB962C8B-B14F-4D97-AF65-F5344CB8AC3E}">
        <p14:creationId xmlns:p14="http://schemas.microsoft.com/office/powerpoint/2010/main" val="44239451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B7466D-8D18-6FD8-970F-C34007FA1AA2}"/>
              </a:ext>
            </a:extLst>
          </p:cNvPr>
          <p:cNvSpPr>
            <a:spLocks noGrp="1"/>
          </p:cNvSpPr>
          <p:nvPr>
            <p:ph type="ctrTitle"/>
          </p:nvPr>
        </p:nvSpPr>
        <p:spPr/>
        <p:txBody>
          <a:bodyPr/>
          <a:lstStyle/>
          <a:p>
            <a:r>
              <a:rPr lang="fr-CA" dirty="0" err="1"/>
              <a:t>Luxury</a:t>
            </a:r>
            <a:r>
              <a:rPr lang="fr-CA" dirty="0"/>
              <a:t> </a:t>
            </a:r>
            <a:r>
              <a:rPr lang="fr-CA" dirty="0" err="1"/>
              <a:t>hotel</a:t>
            </a:r>
            <a:endParaRPr lang="fr-CA" dirty="0"/>
          </a:p>
        </p:txBody>
      </p:sp>
      <p:sp>
        <p:nvSpPr>
          <p:cNvPr id="3" name="Sous-titre 2">
            <a:extLst>
              <a:ext uri="{FF2B5EF4-FFF2-40B4-BE49-F238E27FC236}">
                <a16:creationId xmlns:a16="http://schemas.microsoft.com/office/drawing/2014/main" id="{F01B9374-A318-03F2-96B0-FB7C35A7EB36}"/>
              </a:ext>
            </a:extLst>
          </p:cNvPr>
          <p:cNvSpPr>
            <a:spLocks noGrp="1"/>
          </p:cNvSpPr>
          <p:nvPr>
            <p:ph type="subTitle" idx="1"/>
          </p:nvPr>
        </p:nvSpPr>
        <p:spPr/>
        <p:txBody>
          <a:bodyPr/>
          <a:lstStyle/>
          <a:p>
            <a:r>
              <a:rPr lang="fr-CA" dirty="0"/>
              <a:t>Made by </a:t>
            </a:r>
          </a:p>
          <a:p>
            <a:r>
              <a:rPr lang="fr-CA" dirty="0"/>
              <a:t>Mouad El GHOLABZOURI</a:t>
            </a:r>
          </a:p>
          <a:p>
            <a:r>
              <a:rPr lang="fr-CA" dirty="0"/>
              <a:t>Ali BAKKALI </a:t>
            </a:r>
          </a:p>
          <a:p>
            <a:r>
              <a:rPr lang="fr-CA" dirty="0"/>
              <a:t>AYOUB LAMINE</a:t>
            </a:r>
          </a:p>
        </p:txBody>
      </p:sp>
      <p:pic>
        <p:nvPicPr>
          <p:cNvPr id="5" name="Picture 4">
            <a:extLst>
              <a:ext uri="{FF2B5EF4-FFF2-40B4-BE49-F238E27FC236}">
                <a16:creationId xmlns:a16="http://schemas.microsoft.com/office/drawing/2014/main" id="{ABFB1758-0055-FAEB-6626-968B4A3F2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4208" y="1119807"/>
            <a:ext cx="4885083" cy="3246784"/>
          </a:xfrm>
          <a:prstGeom prst="rect">
            <a:avLst/>
          </a:prstGeom>
        </p:spPr>
      </p:pic>
    </p:spTree>
    <p:extLst>
      <p:ext uri="{BB962C8B-B14F-4D97-AF65-F5344CB8AC3E}">
        <p14:creationId xmlns:p14="http://schemas.microsoft.com/office/powerpoint/2010/main" val="848908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2D83-F427-3B56-12F9-B3D7F88CD537}"/>
              </a:ext>
            </a:extLst>
          </p:cNvPr>
          <p:cNvSpPr>
            <a:spLocks noGrp="1"/>
          </p:cNvSpPr>
          <p:nvPr>
            <p:ph type="title"/>
          </p:nvPr>
        </p:nvSpPr>
        <p:spPr/>
        <p:txBody>
          <a:bodyPr/>
          <a:lstStyle/>
          <a:p>
            <a:r>
              <a:rPr lang="en-CA" dirty="0"/>
              <a:t>L’AVANCEMENT</a:t>
            </a:r>
          </a:p>
        </p:txBody>
      </p:sp>
      <p:sp>
        <p:nvSpPr>
          <p:cNvPr id="3" name="Content Placeholder 2">
            <a:extLst>
              <a:ext uri="{FF2B5EF4-FFF2-40B4-BE49-F238E27FC236}">
                <a16:creationId xmlns:a16="http://schemas.microsoft.com/office/drawing/2014/main" id="{28536489-6676-3A1D-6F52-6326C2417174}"/>
              </a:ext>
            </a:extLst>
          </p:cNvPr>
          <p:cNvSpPr>
            <a:spLocks noGrp="1"/>
          </p:cNvSpPr>
          <p:nvPr>
            <p:ph idx="1"/>
          </p:nvPr>
        </p:nvSpPr>
        <p:spPr/>
        <p:txBody>
          <a:bodyPr/>
          <a:lstStyle/>
          <a:p>
            <a:r>
              <a:rPr lang="en-CA" dirty="0"/>
              <a:t>Dashboard </a:t>
            </a:r>
          </a:p>
          <a:p>
            <a:r>
              <a:rPr lang="en-CA" dirty="0"/>
              <a:t>Les Options </a:t>
            </a:r>
            <a:r>
              <a:rPr lang="en-CA" dirty="0" err="1"/>
              <a:t>d’hotels</a:t>
            </a:r>
            <a:r>
              <a:rPr lang="en-CA" dirty="0"/>
              <a:t> </a:t>
            </a:r>
          </a:p>
          <a:p>
            <a:r>
              <a:rPr lang="en-CA" dirty="0"/>
              <a:t>Le Patron </a:t>
            </a:r>
            <a:r>
              <a:rPr lang="en-CA" dirty="0" err="1"/>
              <a:t>observateur</a:t>
            </a:r>
            <a:r>
              <a:rPr lang="en-CA" dirty="0"/>
              <a:t> </a:t>
            </a:r>
          </a:p>
          <a:p>
            <a:r>
              <a:rPr lang="en-CA" dirty="0" err="1"/>
              <a:t>L’architecture</a:t>
            </a:r>
            <a:endParaRPr lang="en-CA" dirty="0"/>
          </a:p>
          <a:p>
            <a:r>
              <a:rPr lang="en-CA" dirty="0"/>
              <a:t>Les Options</a:t>
            </a:r>
          </a:p>
          <a:p>
            <a:r>
              <a:rPr lang="en-CA" dirty="0"/>
              <a:t>Page resume</a:t>
            </a:r>
          </a:p>
          <a:p>
            <a:r>
              <a:rPr lang="en-CA" dirty="0" err="1"/>
              <a:t>Derniere</a:t>
            </a:r>
            <a:r>
              <a:rPr lang="en-CA" dirty="0"/>
              <a:t> Page</a:t>
            </a:r>
          </a:p>
          <a:p>
            <a:endParaRPr lang="en-CA" dirty="0"/>
          </a:p>
        </p:txBody>
      </p:sp>
    </p:spTree>
    <p:extLst>
      <p:ext uri="{BB962C8B-B14F-4D97-AF65-F5344CB8AC3E}">
        <p14:creationId xmlns:p14="http://schemas.microsoft.com/office/powerpoint/2010/main" val="193240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6DBEA-E4A5-5CB3-D897-7049D169A97C}"/>
              </a:ext>
            </a:extLst>
          </p:cNvPr>
          <p:cNvSpPr>
            <a:spLocks noGrp="1"/>
          </p:cNvSpPr>
          <p:nvPr>
            <p:ph type="title"/>
          </p:nvPr>
        </p:nvSpPr>
        <p:spPr/>
        <p:txBody>
          <a:bodyPr/>
          <a:lstStyle/>
          <a:p>
            <a:r>
              <a:rPr lang="en-CA" dirty="0"/>
              <a:t>LE DASHBOARD </a:t>
            </a:r>
          </a:p>
        </p:txBody>
      </p:sp>
      <p:sp>
        <p:nvSpPr>
          <p:cNvPr id="3" name="Content Placeholder 2">
            <a:extLst>
              <a:ext uri="{FF2B5EF4-FFF2-40B4-BE49-F238E27FC236}">
                <a16:creationId xmlns:a16="http://schemas.microsoft.com/office/drawing/2014/main" id="{AB1DBA16-324C-5A93-DB5F-2AFFF661C6F5}"/>
              </a:ext>
            </a:extLst>
          </p:cNvPr>
          <p:cNvSpPr>
            <a:spLocks noGrp="1"/>
          </p:cNvSpPr>
          <p:nvPr>
            <p:ph idx="1"/>
          </p:nvPr>
        </p:nvSpPr>
        <p:spPr/>
        <p:txBody>
          <a:bodyPr>
            <a:normAutofit lnSpcReduction="10000"/>
          </a:bodyPr>
          <a:lstStyle/>
          <a:p>
            <a:r>
              <a:rPr lang="fr-FR" dirty="0"/>
              <a:t>Après l’étape du login , le DASHBOARD s’affiche avec de grand bouton (Mes </a:t>
            </a:r>
            <a:r>
              <a:rPr lang="fr-FR" dirty="0" err="1"/>
              <a:t>reservations</a:t>
            </a:r>
            <a:r>
              <a:rPr lang="fr-FR" dirty="0"/>
              <a:t> , réserver ), lorsque l’utilisateur clique sur réserver , le système propose de réserver dans quatre hôtels différents appartenant à la société </a:t>
            </a:r>
            <a:r>
              <a:rPr lang="fr-FR" b="1" dirty="0" err="1"/>
              <a:t>Luxury</a:t>
            </a:r>
            <a:r>
              <a:rPr lang="fr-FR" b="1" dirty="0"/>
              <a:t> </a:t>
            </a:r>
            <a:r>
              <a:rPr lang="fr-FR" b="1" dirty="0" err="1"/>
              <a:t>Hotel</a:t>
            </a:r>
            <a:r>
              <a:rPr lang="fr-FR" dirty="0"/>
              <a:t> : un à Montréal (4 étoiles), un à Dubaï (7 étoiles), un à New York (5 étoiles) et un à Tanger (5 étoiles).</a:t>
            </a:r>
            <a:endParaRPr lang="en-CA" dirty="0"/>
          </a:p>
          <a:p>
            <a:r>
              <a:rPr lang="fr-FR" dirty="0"/>
              <a:t>Lorsque l’utilisateur clique sur l’un des hôtels, il doit entrer une date de réservation et peut sélectionner différentes options de filtrage selon ses préférences. Par exemple, il peut choisir un certain prix, un hôtel “pet </a:t>
            </a:r>
            <a:r>
              <a:rPr lang="fr-FR" dirty="0" err="1"/>
              <a:t>friendly</a:t>
            </a:r>
            <a:r>
              <a:rPr lang="fr-FR" dirty="0"/>
              <a:t>” ou uniquement des suites. Si aucune option n’est cochée, le système affiche toutes les possibilités disponibles.</a:t>
            </a:r>
            <a:endParaRPr lang="en-CA" dirty="0"/>
          </a:p>
          <a:p>
            <a:pPr marL="0" indent="0">
              <a:buNone/>
            </a:pPr>
            <a:endParaRPr lang="en-CA" dirty="0"/>
          </a:p>
        </p:txBody>
      </p:sp>
    </p:spTree>
    <p:extLst>
      <p:ext uri="{BB962C8B-B14F-4D97-AF65-F5344CB8AC3E}">
        <p14:creationId xmlns:p14="http://schemas.microsoft.com/office/powerpoint/2010/main" val="355170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886E-987A-F44F-1984-7947233209D1}"/>
              </a:ext>
            </a:extLst>
          </p:cNvPr>
          <p:cNvSpPr>
            <a:spLocks noGrp="1"/>
          </p:cNvSpPr>
          <p:nvPr>
            <p:ph type="title"/>
          </p:nvPr>
        </p:nvSpPr>
        <p:spPr/>
        <p:txBody>
          <a:bodyPr/>
          <a:lstStyle/>
          <a:p>
            <a:r>
              <a:rPr lang="en-CA" dirty="0"/>
              <a:t>Le patron </a:t>
            </a:r>
            <a:r>
              <a:rPr lang="en-CA" dirty="0" err="1"/>
              <a:t>observateur</a:t>
            </a:r>
            <a:endParaRPr lang="en-CA" dirty="0"/>
          </a:p>
        </p:txBody>
      </p:sp>
      <p:sp>
        <p:nvSpPr>
          <p:cNvPr id="3" name="Content Placeholder 2">
            <a:extLst>
              <a:ext uri="{FF2B5EF4-FFF2-40B4-BE49-F238E27FC236}">
                <a16:creationId xmlns:a16="http://schemas.microsoft.com/office/drawing/2014/main" id="{9CBB9B57-7E50-4227-6F38-C2E891DC2EE1}"/>
              </a:ext>
            </a:extLst>
          </p:cNvPr>
          <p:cNvSpPr>
            <a:spLocks noGrp="1"/>
          </p:cNvSpPr>
          <p:nvPr>
            <p:ph idx="1"/>
          </p:nvPr>
        </p:nvSpPr>
        <p:spPr/>
        <p:txBody>
          <a:bodyPr>
            <a:normAutofit fontScale="92500" lnSpcReduction="10000"/>
          </a:bodyPr>
          <a:lstStyle/>
          <a:p>
            <a:r>
              <a:rPr lang="fr-FR" dirty="0"/>
              <a:t>Le patron de conception </a:t>
            </a:r>
            <a:r>
              <a:rPr lang="fr-FR" b="1" dirty="0"/>
              <a:t>Observateur (Observer)</a:t>
            </a:r>
            <a:r>
              <a:rPr lang="fr-FR" dirty="0"/>
              <a:t> permet de créer une relation entre un objet principal (le </a:t>
            </a:r>
            <a:r>
              <a:rPr lang="fr-FR" i="1" dirty="0" err="1"/>
              <a:t>subject</a:t>
            </a:r>
            <a:r>
              <a:rPr lang="fr-FR" dirty="0"/>
              <a:t>) et plusieurs objets dépendants (les </a:t>
            </a:r>
            <a:r>
              <a:rPr lang="fr-FR" i="1" dirty="0" err="1"/>
              <a:t>observers</a:t>
            </a:r>
            <a:r>
              <a:rPr lang="fr-FR" dirty="0"/>
              <a:t>). Dans ce code, la classe </a:t>
            </a:r>
            <a:r>
              <a:rPr lang="fr-FR" i="1" dirty="0" err="1"/>
              <a:t>HotelNotifier</a:t>
            </a:r>
            <a:r>
              <a:rPr lang="fr-FR" dirty="0"/>
              <a:t> agit comme le sujet et gère une liste d’observateurs, tandis que </a:t>
            </a:r>
            <a:r>
              <a:rPr lang="fr-FR" i="1" dirty="0" err="1"/>
              <a:t>HotelLogger</a:t>
            </a:r>
            <a:r>
              <a:rPr lang="fr-FR" dirty="0"/>
              <a:t> est un observateur qui réagit aux changements. Chaque fois qu’un utilisateur sélectionne un hôtel (en cliquant sur un bouton), le notifier envoie une notification à tous les observateurs via la méthode </a:t>
            </a:r>
            <a:r>
              <a:rPr lang="fr-FR" i="1" dirty="0" err="1"/>
              <a:t>Notify</a:t>
            </a:r>
            <a:r>
              <a:rPr lang="fr-FR" i="1" dirty="0"/>
              <a:t>()</a:t>
            </a:r>
            <a:r>
              <a:rPr lang="fr-FR" dirty="0"/>
              <a:t>. L’observateur reçoit alors l’information et exécute une action, ici afficher le nom de l’hôtel sélectionné dans la console. Ce patron améliore la flexibilité du code en séparant la logique de notification de celle des actions, ce qui permet d’ajouter facilement d’autres comportements sans modifier le code principal.</a:t>
            </a:r>
          </a:p>
          <a:p>
            <a:endParaRPr lang="en-CA" dirty="0"/>
          </a:p>
        </p:txBody>
      </p:sp>
    </p:spTree>
    <p:extLst>
      <p:ext uri="{BB962C8B-B14F-4D97-AF65-F5344CB8AC3E}">
        <p14:creationId xmlns:p14="http://schemas.microsoft.com/office/powerpoint/2010/main" val="377980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344A1-5F84-2923-301B-C83E7919FB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BC94D8-4E93-D909-175A-8A3CA9AD18C5}"/>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F0C83ACC-A3A7-38D5-39E9-AC1431DC6313}"/>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CC3FCA25-9525-B628-A09E-E4E554943F26}"/>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2207300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4C9B-D6E3-6770-53B9-3AF1241148B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C3261E-3CF1-A85A-A160-06DE33A066AE}"/>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D610750C-4699-FC41-FF57-0377FB029D48}"/>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A5E7F44D-887A-2BA4-9459-C9A76A848438}"/>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12053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5D497-AD45-6146-BAF9-A97AF7C37EFA}"/>
              </a:ext>
            </a:extLst>
          </p:cNvPr>
          <p:cNvSpPr>
            <a:spLocks noGrp="1"/>
          </p:cNvSpPr>
          <p:nvPr>
            <p:ph type="title"/>
          </p:nvPr>
        </p:nvSpPr>
        <p:spPr>
          <a:xfrm>
            <a:off x="349915" y="416777"/>
            <a:ext cx="8534400" cy="1507067"/>
          </a:xfrm>
        </p:spPr>
        <p:txBody>
          <a:bodyPr/>
          <a:lstStyle/>
          <a:p>
            <a:r>
              <a:rPr lang="fr-CA" dirty="0"/>
              <a:t>ARCHITECHTURE</a:t>
            </a:r>
          </a:p>
        </p:txBody>
      </p:sp>
      <p:sp>
        <p:nvSpPr>
          <p:cNvPr id="3" name="Espace réservé du contenu 2">
            <a:extLst>
              <a:ext uri="{FF2B5EF4-FFF2-40B4-BE49-F238E27FC236}">
                <a16:creationId xmlns:a16="http://schemas.microsoft.com/office/drawing/2014/main" id="{C548A2A5-0693-262A-FD90-4770DDFF09FC}"/>
              </a:ext>
            </a:extLst>
          </p:cNvPr>
          <p:cNvSpPr>
            <a:spLocks noGrp="1"/>
          </p:cNvSpPr>
          <p:nvPr>
            <p:ph idx="1"/>
          </p:nvPr>
        </p:nvSpPr>
        <p:spPr>
          <a:xfrm>
            <a:off x="0" y="1923844"/>
            <a:ext cx="6109878" cy="3615267"/>
          </a:xfrm>
        </p:spPr>
        <p:txBody>
          <a:bodyPr>
            <a:normAutofit lnSpcReduction="10000"/>
          </a:bodyPr>
          <a:lstStyle/>
          <a:p>
            <a:r>
              <a:rPr lang="fr-CA" b="1" dirty="0">
                <a:solidFill>
                  <a:schemeClr val="tx1"/>
                </a:solidFill>
              </a:rPr>
              <a:t>Dans notre projet, on a essayé de construire une architecture simple mais bien organisée. L’interface utilisateur est gérée par les pages ASPX comme login, inscription, options, suite, résumé et merci. Ces pages servent surtout à afficher les informations et récupérer les choix de l’utilisateur. La logique du système est séparée dans des classes C#, ce qui permet d’éviter de mettre tout le code dans les pages. On a aussi une base de données qui contient les informations importantes, comme les chambres, les prix et les pays.</a:t>
            </a:r>
          </a:p>
        </p:txBody>
      </p:sp>
      <p:pic>
        <p:nvPicPr>
          <p:cNvPr id="5" name="Image 4">
            <a:extLst>
              <a:ext uri="{FF2B5EF4-FFF2-40B4-BE49-F238E27FC236}">
                <a16:creationId xmlns:a16="http://schemas.microsoft.com/office/drawing/2014/main" id="{6A8BE5E9-FF12-2BB8-BAE5-646B74EE5FB7}"/>
              </a:ext>
            </a:extLst>
          </p:cNvPr>
          <p:cNvPicPr>
            <a:picLocks noChangeAspect="1"/>
          </p:cNvPicPr>
          <p:nvPr/>
        </p:nvPicPr>
        <p:blipFill>
          <a:blip r:embed="rId2"/>
          <a:stretch>
            <a:fillRect/>
          </a:stretch>
        </p:blipFill>
        <p:spPr>
          <a:xfrm>
            <a:off x="10382725" y="2056637"/>
            <a:ext cx="1615580" cy="3086367"/>
          </a:xfrm>
          <a:prstGeom prst="rect">
            <a:avLst/>
          </a:prstGeom>
        </p:spPr>
      </p:pic>
    </p:spTree>
    <p:extLst>
      <p:ext uri="{BB962C8B-B14F-4D97-AF65-F5344CB8AC3E}">
        <p14:creationId xmlns:p14="http://schemas.microsoft.com/office/powerpoint/2010/main" val="3590678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9396A-EBBA-7117-B2D1-8B6E445F78CE}"/>
              </a:ext>
            </a:extLst>
          </p:cNvPr>
          <p:cNvSpPr>
            <a:spLocks noGrp="1"/>
          </p:cNvSpPr>
          <p:nvPr>
            <p:ph type="title"/>
          </p:nvPr>
        </p:nvSpPr>
        <p:spPr>
          <a:xfrm>
            <a:off x="221988" y="643013"/>
            <a:ext cx="8534400" cy="1507067"/>
          </a:xfrm>
        </p:spPr>
        <p:txBody>
          <a:bodyPr/>
          <a:lstStyle/>
          <a:p>
            <a:r>
              <a:rPr lang="fr-CA" dirty="0"/>
              <a:t>ARCHITECHTURE</a:t>
            </a:r>
          </a:p>
        </p:txBody>
      </p:sp>
      <p:pic>
        <p:nvPicPr>
          <p:cNvPr id="5" name="Espace réservé du contenu 4">
            <a:extLst>
              <a:ext uri="{FF2B5EF4-FFF2-40B4-BE49-F238E27FC236}">
                <a16:creationId xmlns:a16="http://schemas.microsoft.com/office/drawing/2014/main" id="{8C6CEFE1-28D8-B181-61A6-C15954F8921E}"/>
              </a:ext>
            </a:extLst>
          </p:cNvPr>
          <p:cNvPicPr>
            <a:picLocks noGrp="1" noChangeAspect="1"/>
          </p:cNvPicPr>
          <p:nvPr>
            <p:ph idx="1"/>
          </p:nvPr>
        </p:nvPicPr>
        <p:blipFill>
          <a:blip r:embed="rId2"/>
          <a:stretch>
            <a:fillRect/>
          </a:stretch>
        </p:blipFill>
        <p:spPr>
          <a:xfrm>
            <a:off x="8189406" y="2150080"/>
            <a:ext cx="3918858" cy="3455310"/>
          </a:xfrm>
          <a:prstGeom prst="rect">
            <a:avLst/>
          </a:prstGeom>
        </p:spPr>
      </p:pic>
      <p:pic>
        <p:nvPicPr>
          <p:cNvPr id="7" name="Image 6">
            <a:extLst>
              <a:ext uri="{FF2B5EF4-FFF2-40B4-BE49-F238E27FC236}">
                <a16:creationId xmlns:a16="http://schemas.microsoft.com/office/drawing/2014/main" id="{AFFAD08B-5715-B491-DD0F-71CBB490CC74}"/>
              </a:ext>
            </a:extLst>
          </p:cNvPr>
          <p:cNvPicPr>
            <a:picLocks noChangeAspect="1"/>
          </p:cNvPicPr>
          <p:nvPr/>
        </p:nvPicPr>
        <p:blipFill>
          <a:blip r:embed="rId3"/>
          <a:stretch>
            <a:fillRect/>
          </a:stretch>
        </p:blipFill>
        <p:spPr>
          <a:xfrm>
            <a:off x="6560170" y="2627481"/>
            <a:ext cx="1463167" cy="2080440"/>
          </a:xfrm>
          <a:prstGeom prst="rect">
            <a:avLst/>
          </a:prstGeom>
        </p:spPr>
      </p:pic>
      <p:sp>
        <p:nvSpPr>
          <p:cNvPr id="9" name="ZoneTexte 8">
            <a:extLst>
              <a:ext uri="{FF2B5EF4-FFF2-40B4-BE49-F238E27FC236}">
                <a16:creationId xmlns:a16="http://schemas.microsoft.com/office/drawing/2014/main" id="{6AADCAB3-5EEE-AB4D-1F13-D4283C806D53}"/>
              </a:ext>
            </a:extLst>
          </p:cNvPr>
          <p:cNvSpPr txBox="1"/>
          <p:nvPr/>
        </p:nvSpPr>
        <p:spPr>
          <a:xfrm>
            <a:off x="450772" y="2375039"/>
            <a:ext cx="6109398" cy="2585323"/>
          </a:xfrm>
          <a:prstGeom prst="rect">
            <a:avLst/>
          </a:prstGeom>
          <a:noFill/>
        </p:spPr>
        <p:txBody>
          <a:bodyPr wrap="square">
            <a:spAutoFit/>
          </a:bodyPr>
          <a:lstStyle/>
          <a:p>
            <a:r>
              <a:rPr lang="fr-CA" b="1" dirty="0"/>
              <a:t>on a utilisé plusieurs design patterns pour mieux structurer le projet. Le patron </a:t>
            </a:r>
            <a:r>
              <a:rPr lang="fr-CA" b="1" dirty="0" err="1"/>
              <a:t>Factory</a:t>
            </a:r>
            <a:r>
              <a:rPr lang="fr-CA" b="1" dirty="0"/>
              <a:t> est utilisé pour créer les différentes suites selon la ville. Le patron </a:t>
            </a:r>
            <a:r>
              <a:rPr lang="fr-CA" b="1" dirty="0" err="1"/>
              <a:t>Decorator</a:t>
            </a:r>
            <a:r>
              <a:rPr lang="fr-CA" b="1" dirty="0"/>
              <a:t> est utilisé pour ajouter des options à une chambre normale, comme le linge, le taxi ou le mini-bar. Le patron </a:t>
            </a:r>
            <a:r>
              <a:rPr lang="fr-CA" b="1" dirty="0" err="1"/>
              <a:t>Facade</a:t>
            </a:r>
            <a:r>
              <a:rPr lang="fr-CA" b="1" dirty="0"/>
              <a:t> est utilisé pour simplifier la communication entre les pages ASPX et les classes métier. Grâce à ça, le code est plus clair, plus modulaire et plus facile à maintenir</a:t>
            </a:r>
          </a:p>
        </p:txBody>
      </p:sp>
    </p:spTree>
    <p:extLst>
      <p:ext uri="{BB962C8B-B14F-4D97-AF65-F5344CB8AC3E}">
        <p14:creationId xmlns:p14="http://schemas.microsoft.com/office/powerpoint/2010/main" val="2063301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951FBB-9200-D022-11D4-D892A94F2E4A}"/>
              </a:ext>
            </a:extLst>
          </p:cNvPr>
          <p:cNvSpPr>
            <a:spLocks noGrp="1"/>
          </p:cNvSpPr>
          <p:nvPr>
            <p:ph type="title"/>
          </p:nvPr>
        </p:nvSpPr>
        <p:spPr>
          <a:xfrm>
            <a:off x="143438" y="121810"/>
            <a:ext cx="8534400" cy="1507067"/>
          </a:xfrm>
        </p:spPr>
        <p:txBody>
          <a:bodyPr/>
          <a:lstStyle/>
          <a:p>
            <a:r>
              <a:rPr lang="fr-CA" dirty="0"/>
              <a:t>LES OPTIONS</a:t>
            </a:r>
          </a:p>
        </p:txBody>
      </p:sp>
      <p:sp>
        <p:nvSpPr>
          <p:cNvPr id="3" name="Espace réservé du contenu 2">
            <a:extLst>
              <a:ext uri="{FF2B5EF4-FFF2-40B4-BE49-F238E27FC236}">
                <a16:creationId xmlns:a16="http://schemas.microsoft.com/office/drawing/2014/main" id="{5976A7D8-CC67-2173-0FB2-7C8645F134B0}"/>
              </a:ext>
            </a:extLst>
          </p:cNvPr>
          <p:cNvSpPr>
            <a:spLocks noGrp="1"/>
          </p:cNvSpPr>
          <p:nvPr>
            <p:ph idx="1"/>
          </p:nvPr>
        </p:nvSpPr>
        <p:spPr>
          <a:xfrm>
            <a:off x="143438" y="1741538"/>
            <a:ext cx="6454007" cy="3374923"/>
          </a:xfrm>
        </p:spPr>
        <p:txBody>
          <a:bodyPr>
            <a:normAutofit fontScale="92500" lnSpcReduction="10000"/>
          </a:bodyPr>
          <a:lstStyle/>
          <a:p>
            <a:r>
              <a:rPr lang="fr-CA" b="1" dirty="0">
                <a:solidFill>
                  <a:schemeClr val="tx1">
                    <a:lumMod val="85000"/>
                  </a:schemeClr>
                </a:solidFill>
              </a:rPr>
              <a:t>Dans cette page, on utilise le PATRON </a:t>
            </a:r>
            <a:r>
              <a:rPr lang="fr-CA" b="1" dirty="0" err="1">
                <a:solidFill>
                  <a:schemeClr val="tx1">
                    <a:lumMod val="85000"/>
                  </a:schemeClr>
                </a:solidFill>
              </a:rPr>
              <a:t>Decorator</a:t>
            </a:r>
            <a:r>
              <a:rPr lang="fr-CA" b="1" dirty="0">
                <a:solidFill>
                  <a:schemeClr val="tx1">
                    <a:lumMod val="85000"/>
                  </a:schemeClr>
                </a:solidFill>
              </a:rPr>
              <a:t> pour ajouter les différentes options à une chambre de base appelée </a:t>
            </a:r>
            <a:r>
              <a:rPr lang="fr-CA" b="1" dirty="0" err="1">
                <a:solidFill>
                  <a:schemeClr val="tx1">
                    <a:lumMod val="85000"/>
                  </a:schemeClr>
                </a:solidFill>
              </a:rPr>
              <a:t>ChambreBase</a:t>
            </a:r>
            <a:r>
              <a:rPr lang="fr-CA" b="1" dirty="0">
                <a:solidFill>
                  <a:schemeClr val="tx1">
                    <a:lumMod val="85000"/>
                  </a:schemeClr>
                </a:solidFill>
              </a:rPr>
              <a:t>. Chaque option comme le linge, le taxi ou le minibar vient modifier le prix et la description de la chambre. Le prix initial de la chambre est récupéré depuis la base de données, ce qui permet d’avoir un système dynamique. Ensuite, les choix de l’utilisateur sont stockés dans des sessions afin de garder les informations entre les pages. Finalement, le système calcule automatiquement le prix total et redirige l’utilisateur vers la page résumé.</a:t>
            </a:r>
          </a:p>
        </p:txBody>
      </p:sp>
      <p:pic>
        <p:nvPicPr>
          <p:cNvPr id="5" name="Image 4">
            <a:extLst>
              <a:ext uri="{FF2B5EF4-FFF2-40B4-BE49-F238E27FC236}">
                <a16:creationId xmlns:a16="http://schemas.microsoft.com/office/drawing/2014/main" id="{00D72134-319C-C03B-2B97-A9C23805D1AF}"/>
              </a:ext>
            </a:extLst>
          </p:cNvPr>
          <p:cNvPicPr>
            <a:picLocks noChangeAspect="1"/>
          </p:cNvPicPr>
          <p:nvPr/>
        </p:nvPicPr>
        <p:blipFill>
          <a:blip r:embed="rId2"/>
          <a:stretch>
            <a:fillRect/>
          </a:stretch>
        </p:blipFill>
        <p:spPr>
          <a:xfrm>
            <a:off x="6597445" y="1326904"/>
            <a:ext cx="5565503" cy="3978626"/>
          </a:xfrm>
          <a:prstGeom prst="rect">
            <a:avLst/>
          </a:prstGeom>
        </p:spPr>
      </p:pic>
    </p:spTree>
    <p:extLst>
      <p:ext uri="{BB962C8B-B14F-4D97-AF65-F5344CB8AC3E}">
        <p14:creationId xmlns:p14="http://schemas.microsoft.com/office/powerpoint/2010/main" val="310868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974553-B37B-E2C1-91ED-5C79ACF5DF4B}"/>
              </a:ext>
            </a:extLst>
          </p:cNvPr>
          <p:cNvSpPr>
            <a:spLocks noGrp="1"/>
          </p:cNvSpPr>
          <p:nvPr>
            <p:ph type="title"/>
          </p:nvPr>
        </p:nvSpPr>
        <p:spPr>
          <a:xfrm>
            <a:off x="332520" y="427212"/>
            <a:ext cx="8534400" cy="1507067"/>
          </a:xfrm>
        </p:spPr>
        <p:txBody>
          <a:bodyPr/>
          <a:lstStyle/>
          <a:p>
            <a:r>
              <a:rPr lang="fr-CA" dirty="0"/>
              <a:t>LES OPTIONS</a:t>
            </a:r>
          </a:p>
        </p:txBody>
      </p:sp>
      <p:pic>
        <p:nvPicPr>
          <p:cNvPr id="5" name="Espace réservé du contenu 4">
            <a:extLst>
              <a:ext uri="{FF2B5EF4-FFF2-40B4-BE49-F238E27FC236}">
                <a16:creationId xmlns:a16="http://schemas.microsoft.com/office/drawing/2014/main" id="{0FF49F97-4D2E-79A4-3344-4BB96BADECF6}"/>
              </a:ext>
            </a:extLst>
          </p:cNvPr>
          <p:cNvPicPr>
            <a:picLocks noGrp="1" noChangeAspect="1"/>
          </p:cNvPicPr>
          <p:nvPr>
            <p:ph idx="1"/>
          </p:nvPr>
        </p:nvPicPr>
        <p:blipFill>
          <a:blip r:embed="rId2"/>
          <a:stretch>
            <a:fillRect/>
          </a:stretch>
        </p:blipFill>
        <p:spPr>
          <a:xfrm>
            <a:off x="5297043" y="2397132"/>
            <a:ext cx="6791124" cy="3614738"/>
          </a:xfrm>
          <a:prstGeom prst="rect">
            <a:avLst/>
          </a:prstGeom>
        </p:spPr>
      </p:pic>
      <p:pic>
        <p:nvPicPr>
          <p:cNvPr id="7" name="Image 6">
            <a:extLst>
              <a:ext uri="{FF2B5EF4-FFF2-40B4-BE49-F238E27FC236}">
                <a16:creationId xmlns:a16="http://schemas.microsoft.com/office/drawing/2014/main" id="{EE09759A-60FD-7E6E-39E4-564DA5A4DFE8}"/>
              </a:ext>
            </a:extLst>
          </p:cNvPr>
          <p:cNvPicPr>
            <a:picLocks noChangeAspect="1"/>
          </p:cNvPicPr>
          <p:nvPr/>
        </p:nvPicPr>
        <p:blipFill>
          <a:blip r:embed="rId3"/>
          <a:stretch>
            <a:fillRect/>
          </a:stretch>
        </p:blipFill>
        <p:spPr>
          <a:xfrm>
            <a:off x="0" y="2397132"/>
            <a:ext cx="5154804" cy="3614738"/>
          </a:xfrm>
          <a:prstGeom prst="rect">
            <a:avLst/>
          </a:prstGeom>
        </p:spPr>
      </p:pic>
    </p:spTree>
    <p:extLst>
      <p:ext uri="{BB962C8B-B14F-4D97-AF65-F5344CB8AC3E}">
        <p14:creationId xmlns:p14="http://schemas.microsoft.com/office/powerpoint/2010/main" val="1163145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054790-2ECB-2617-C537-C83695AA795A}"/>
              </a:ext>
            </a:extLst>
          </p:cNvPr>
          <p:cNvSpPr>
            <a:spLocks noGrp="1"/>
          </p:cNvSpPr>
          <p:nvPr>
            <p:ph type="title"/>
          </p:nvPr>
        </p:nvSpPr>
        <p:spPr>
          <a:xfrm>
            <a:off x="349915" y="89036"/>
            <a:ext cx="8534400" cy="1507067"/>
          </a:xfrm>
        </p:spPr>
        <p:txBody>
          <a:bodyPr/>
          <a:lstStyle/>
          <a:p>
            <a:r>
              <a:rPr lang="fr-CA" dirty="0"/>
              <a:t>LES OPTIONS</a:t>
            </a:r>
          </a:p>
        </p:txBody>
      </p:sp>
      <p:sp>
        <p:nvSpPr>
          <p:cNvPr id="3" name="Espace réservé du contenu 2">
            <a:extLst>
              <a:ext uri="{FF2B5EF4-FFF2-40B4-BE49-F238E27FC236}">
                <a16:creationId xmlns:a16="http://schemas.microsoft.com/office/drawing/2014/main" id="{9D438BD8-325D-559D-4989-52104ED0C2F2}"/>
              </a:ext>
            </a:extLst>
          </p:cNvPr>
          <p:cNvSpPr>
            <a:spLocks noGrp="1"/>
          </p:cNvSpPr>
          <p:nvPr>
            <p:ph idx="1"/>
          </p:nvPr>
        </p:nvSpPr>
        <p:spPr>
          <a:xfrm>
            <a:off x="45116" y="1199536"/>
            <a:ext cx="6296690" cy="4291236"/>
          </a:xfrm>
        </p:spPr>
        <p:txBody>
          <a:bodyPr>
            <a:normAutofit/>
          </a:bodyPr>
          <a:lstStyle/>
          <a:p>
            <a:r>
              <a:rPr lang="fr-CA" b="1" dirty="0">
                <a:solidFill>
                  <a:schemeClr val="tx1"/>
                </a:solidFill>
              </a:rPr>
              <a:t>Dans cette partie, on utilise le patron </a:t>
            </a:r>
            <a:r>
              <a:rPr lang="fr-CA" b="1" dirty="0" err="1">
                <a:solidFill>
                  <a:schemeClr val="tx1"/>
                </a:solidFill>
              </a:rPr>
              <a:t>Factory</a:t>
            </a:r>
            <a:r>
              <a:rPr lang="fr-CA" b="1" dirty="0">
                <a:solidFill>
                  <a:schemeClr val="tx1"/>
                </a:solidFill>
              </a:rPr>
              <a:t> pour créer le type de suite choisi, comme Montréal, sans avoir à instancier directement les classes dans la page. Ensuite, les informations de la suite sont traitées et envoyées à une classe </a:t>
            </a:r>
            <a:r>
              <a:rPr lang="fr-CA" b="1" dirty="0" err="1">
                <a:solidFill>
                  <a:schemeClr val="tx1"/>
                </a:solidFill>
              </a:rPr>
              <a:t>Facade</a:t>
            </a:r>
            <a:r>
              <a:rPr lang="fr-CA" b="1" dirty="0">
                <a:solidFill>
                  <a:schemeClr val="tx1"/>
                </a:solidFill>
              </a:rPr>
              <a:t> qui centralise la logique du système. Cette </a:t>
            </a:r>
            <a:r>
              <a:rPr lang="fr-CA" b="1" dirty="0" err="1">
                <a:solidFill>
                  <a:schemeClr val="tx1"/>
                </a:solidFill>
              </a:rPr>
              <a:t>Facade</a:t>
            </a:r>
            <a:r>
              <a:rPr lang="fr-CA" b="1" dirty="0">
                <a:solidFill>
                  <a:schemeClr val="tx1"/>
                </a:solidFill>
              </a:rPr>
              <a:t> permet de récupérer les données, gérer les sessions et préparer les informations pour les pages suivantes. Cela rend le code plus simple et évite de répéter la logique dans plusieurs endroits</a:t>
            </a:r>
          </a:p>
        </p:txBody>
      </p:sp>
      <p:pic>
        <p:nvPicPr>
          <p:cNvPr id="5" name="Image 4">
            <a:extLst>
              <a:ext uri="{FF2B5EF4-FFF2-40B4-BE49-F238E27FC236}">
                <a16:creationId xmlns:a16="http://schemas.microsoft.com/office/drawing/2014/main" id="{0DC2C639-29F5-5C40-EEC1-7611E92BA1BB}"/>
              </a:ext>
            </a:extLst>
          </p:cNvPr>
          <p:cNvPicPr>
            <a:picLocks noChangeAspect="1"/>
          </p:cNvPicPr>
          <p:nvPr/>
        </p:nvPicPr>
        <p:blipFill>
          <a:blip r:embed="rId2"/>
          <a:stretch>
            <a:fillRect/>
          </a:stretch>
        </p:blipFill>
        <p:spPr>
          <a:xfrm>
            <a:off x="6980868" y="1485713"/>
            <a:ext cx="4198984" cy="3718882"/>
          </a:xfrm>
          <a:prstGeom prst="rect">
            <a:avLst/>
          </a:prstGeom>
        </p:spPr>
      </p:pic>
    </p:spTree>
    <p:extLst>
      <p:ext uri="{BB962C8B-B14F-4D97-AF65-F5344CB8AC3E}">
        <p14:creationId xmlns:p14="http://schemas.microsoft.com/office/powerpoint/2010/main" val="242131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BF6F8-7C35-4FA4-4848-9745EEFEE61D}"/>
              </a:ext>
            </a:extLst>
          </p:cNvPr>
          <p:cNvSpPr>
            <a:spLocks noGrp="1"/>
          </p:cNvSpPr>
          <p:nvPr>
            <p:ph type="title"/>
          </p:nvPr>
        </p:nvSpPr>
        <p:spPr>
          <a:xfrm>
            <a:off x="433003" y="267024"/>
            <a:ext cx="8534400" cy="1507067"/>
          </a:xfrm>
        </p:spPr>
        <p:txBody>
          <a:bodyPr/>
          <a:lstStyle/>
          <a:p>
            <a:r>
              <a:rPr lang="fr-CA" dirty="0"/>
              <a:t>Page </a:t>
            </a:r>
            <a:r>
              <a:rPr lang="fr-CA" dirty="0" err="1"/>
              <a:t>resume</a:t>
            </a:r>
            <a:endParaRPr lang="fr-CA" dirty="0"/>
          </a:p>
        </p:txBody>
      </p:sp>
      <p:pic>
        <p:nvPicPr>
          <p:cNvPr id="5" name="Espace réservé du contenu 4">
            <a:extLst>
              <a:ext uri="{FF2B5EF4-FFF2-40B4-BE49-F238E27FC236}">
                <a16:creationId xmlns:a16="http://schemas.microsoft.com/office/drawing/2014/main" id="{D87615E8-3182-D97A-D618-4D5BF125B832}"/>
              </a:ext>
            </a:extLst>
          </p:cNvPr>
          <p:cNvPicPr>
            <a:picLocks noGrp="1" noChangeAspect="1"/>
          </p:cNvPicPr>
          <p:nvPr>
            <p:ph idx="1"/>
          </p:nvPr>
        </p:nvPicPr>
        <p:blipFill>
          <a:blip r:embed="rId2"/>
          <a:stretch>
            <a:fillRect/>
          </a:stretch>
        </p:blipFill>
        <p:spPr>
          <a:xfrm>
            <a:off x="5880137" y="1971990"/>
            <a:ext cx="6174531" cy="3614738"/>
          </a:xfrm>
          <a:prstGeom prst="rect">
            <a:avLst/>
          </a:prstGeom>
        </p:spPr>
      </p:pic>
      <p:sp>
        <p:nvSpPr>
          <p:cNvPr id="7" name="ZoneTexte 6">
            <a:extLst>
              <a:ext uri="{FF2B5EF4-FFF2-40B4-BE49-F238E27FC236}">
                <a16:creationId xmlns:a16="http://schemas.microsoft.com/office/drawing/2014/main" id="{58502B93-B197-BAEF-4343-702F6368B31E}"/>
              </a:ext>
            </a:extLst>
          </p:cNvPr>
          <p:cNvSpPr txBox="1"/>
          <p:nvPr/>
        </p:nvSpPr>
        <p:spPr>
          <a:xfrm>
            <a:off x="-13398" y="1720840"/>
            <a:ext cx="5696443" cy="3693319"/>
          </a:xfrm>
          <a:prstGeom prst="rect">
            <a:avLst/>
          </a:prstGeom>
          <a:noFill/>
        </p:spPr>
        <p:txBody>
          <a:bodyPr wrap="square">
            <a:spAutoFit/>
          </a:bodyPr>
          <a:lstStyle/>
          <a:p>
            <a:r>
              <a:rPr lang="fr-CA" b="1" dirty="0"/>
              <a:t>Dans cette page résumé, toutes les informations de la réservation sont affichées de manière claire, comme la ville, le type de chambre, la description, les options choisies et les repas. Ces données sont récupérées à partir des sessions qui ont été stockées dans les pages précédentes. Une classe </a:t>
            </a:r>
            <a:r>
              <a:rPr lang="fr-CA" b="1" dirty="0" err="1"/>
              <a:t>Facade</a:t>
            </a:r>
            <a:r>
              <a:rPr lang="fr-CA" b="1" dirty="0"/>
              <a:t> est utilisée pour centraliser la récupération et l’organisation de ces informations, ce qui permet de simplifier le code et d’éviter de répéter la logique dans la page. Le système affiche ensuite un résumé complet de la réservation pour que l’utilisateur puisse vérifier ses choix avant de continuer.</a:t>
            </a:r>
          </a:p>
        </p:txBody>
      </p:sp>
    </p:spTree>
    <p:extLst>
      <p:ext uri="{BB962C8B-B14F-4D97-AF65-F5344CB8AC3E}">
        <p14:creationId xmlns:p14="http://schemas.microsoft.com/office/powerpoint/2010/main" val="123375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613DCD-E5CB-2CB0-5420-0A287D085898}"/>
              </a:ext>
            </a:extLst>
          </p:cNvPr>
          <p:cNvSpPr>
            <a:spLocks noGrp="1"/>
          </p:cNvSpPr>
          <p:nvPr>
            <p:ph type="title"/>
          </p:nvPr>
        </p:nvSpPr>
        <p:spPr>
          <a:xfrm>
            <a:off x="290921" y="259461"/>
            <a:ext cx="8534400" cy="1507067"/>
          </a:xfrm>
        </p:spPr>
        <p:txBody>
          <a:bodyPr/>
          <a:lstStyle/>
          <a:p>
            <a:r>
              <a:rPr lang="fr-CA" dirty="0"/>
              <a:t>DERNIERE PAGE</a:t>
            </a:r>
          </a:p>
        </p:txBody>
      </p:sp>
      <p:sp>
        <p:nvSpPr>
          <p:cNvPr id="3" name="Espace réservé du contenu 2">
            <a:extLst>
              <a:ext uri="{FF2B5EF4-FFF2-40B4-BE49-F238E27FC236}">
                <a16:creationId xmlns:a16="http://schemas.microsoft.com/office/drawing/2014/main" id="{2D911B77-2319-5650-E822-3EE34986357B}"/>
              </a:ext>
            </a:extLst>
          </p:cNvPr>
          <p:cNvSpPr>
            <a:spLocks noGrp="1"/>
          </p:cNvSpPr>
          <p:nvPr>
            <p:ph idx="1"/>
          </p:nvPr>
        </p:nvSpPr>
        <p:spPr>
          <a:xfrm>
            <a:off x="-13878" y="1476206"/>
            <a:ext cx="6109878" cy="3615267"/>
          </a:xfrm>
        </p:spPr>
        <p:txBody>
          <a:bodyPr/>
          <a:lstStyle/>
          <a:p>
            <a:r>
              <a:rPr lang="fr-CA" b="1" dirty="0">
                <a:solidFill>
                  <a:schemeClr val="tx1"/>
                </a:solidFill>
              </a:rPr>
              <a:t>Dans cette dernière page, le système confirme que la réservation a été effectuée avec succès et affiche un message de remerciement à l’utilisateur. Toutes les informations nécessaires ont déjà été traitées dans les étapes précédentes grâce à la classe </a:t>
            </a:r>
            <a:r>
              <a:rPr lang="fr-CA" b="1" dirty="0" err="1">
                <a:solidFill>
                  <a:schemeClr val="tx1"/>
                </a:solidFill>
              </a:rPr>
              <a:t>Facade</a:t>
            </a:r>
            <a:r>
              <a:rPr lang="fr-CA" b="1" dirty="0">
                <a:solidFill>
                  <a:schemeClr val="tx1"/>
                </a:solidFill>
              </a:rPr>
              <a:t>, qui centralise la logique du système et prépare les données. Cette page sert simplement à informer l’utilisateur que tout s’est bien déroulé et à lui offrir la possibilité de revenir à l’accueil.</a:t>
            </a:r>
          </a:p>
        </p:txBody>
      </p:sp>
      <p:pic>
        <p:nvPicPr>
          <p:cNvPr id="5" name="Image 4">
            <a:extLst>
              <a:ext uri="{FF2B5EF4-FFF2-40B4-BE49-F238E27FC236}">
                <a16:creationId xmlns:a16="http://schemas.microsoft.com/office/drawing/2014/main" id="{65AC19ED-A4D1-0B4B-7447-9EA5BC7419DA}"/>
              </a:ext>
            </a:extLst>
          </p:cNvPr>
          <p:cNvPicPr>
            <a:picLocks noChangeAspect="1"/>
          </p:cNvPicPr>
          <p:nvPr/>
        </p:nvPicPr>
        <p:blipFill>
          <a:blip r:embed="rId2"/>
          <a:stretch>
            <a:fillRect/>
          </a:stretch>
        </p:blipFill>
        <p:spPr>
          <a:xfrm>
            <a:off x="6320413" y="1848897"/>
            <a:ext cx="5436158" cy="2903973"/>
          </a:xfrm>
          <a:prstGeom prst="rect">
            <a:avLst/>
          </a:prstGeom>
        </p:spPr>
      </p:pic>
    </p:spTree>
    <p:extLst>
      <p:ext uri="{BB962C8B-B14F-4D97-AF65-F5344CB8AC3E}">
        <p14:creationId xmlns:p14="http://schemas.microsoft.com/office/powerpoint/2010/main" val="2764511386"/>
      </p:ext>
    </p:extLst>
  </p:cSld>
  <p:clrMapOvr>
    <a:masterClrMapping/>
  </p:clrMapOvr>
</p:sld>
</file>

<file path=ppt/theme/theme1.xml><?xml version="1.0" encoding="utf-8"?>
<a:theme xmlns:a="http://schemas.openxmlformats.org/drawingml/2006/main" name="Secteur">
  <a:themeElements>
    <a:clrScheme name="Secteu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eu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eu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62</TotalTime>
  <Words>872</Words>
  <Application>Microsoft Office PowerPoint</Application>
  <PresentationFormat>Widescreen</PresentationFormat>
  <Paragraphs>33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Century Gothic</vt:lpstr>
      <vt:lpstr>Wingdings 3</vt:lpstr>
      <vt:lpstr>Secteur</vt:lpstr>
      <vt:lpstr>Luxury hotel</vt:lpstr>
      <vt:lpstr>L’AVANCEMENT</vt:lpstr>
      <vt:lpstr>LE DASHBOARD </vt:lpstr>
      <vt:lpstr>Le patron observateur</vt:lpstr>
      <vt:lpstr>LES OPTIONS</vt:lpstr>
      <vt:lpstr>LES OPTIONS</vt:lpstr>
      <vt:lpstr>ARCHITECHTURE</vt:lpstr>
      <vt:lpstr>ARCHITECHTURE</vt:lpstr>
      <vt:lpstr>LES OPTIONS</vt:lpstr>
      <vt:lpstr>LES OPTIONS</vt:lpstr>
      <vt:lpstr>LES OPTIONS</vt:lpstr>
      <vt:lpstr>Page resume</vt:lpstr>
      <vt:lpstr>DERNIERE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Bakkali Ali</dc:creator>
  <cp:lastModifiedBy>Mouad Elgholabzouri</cp:lastModifiedBy>
  <cp:revision>3</cp:revision>
  <dcterms:created xsi:type="dcterms:W3CDTF">2026-03-30T02:23:56Z</dcterms:created>
  <dcterms:modified xsi:type="dcterms:W3CDTF">2026-03-30T03:37:20Z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de0556-1f76-452e-9e94-03158f226e4e_Enabled">
    <vt:lpwstr>true</vt:lpwstr>
  </property>
  <property fmtid="{D5CDD505-2E9C-101B-9397-08002B2CF9AE}" pid="3" name="MSIP_Label_cdde0556-1f76-452e-9e94-03158f226e4e_SetDate">
    <vt:lpwstr>2026-03-30T03:36:41Z</vt:lpwstr>
  </property>
  <property fmtid="{D5CDD505-2E9C-101B-9397-08002B2CF9AE}" pid="4" name="MSIP_Label_cdde0556-1f76-452e-9e94-03158f226e4e_Method">
    <vt:lpwstr>Standard</vt:lpwstr>
  </property>
  <property fmtid="{D5CDD505-2E9C-101B-9397-08002B2CF9AE}" pid="5" name="MSIP_Label_cdde0556-1f76-452e-9e94-03158f226e4e_Name">
    <vt:lpwstr>Private</vt:lpwstr>
  </property>
  <property fmtid="{D5CDD505-2E9C-101B-9397-08002B2CF9AE}" pid="6" name="MSIP_Label_cdde0556-1f76-452e-9e94-03158f226e4e_SiteId">
    <vt:lpwstr>7015a19d-0dbb-4c31-8709-253cf07f631f</vt:lpwstr>
  </property>
  <property fmtid="{D5CDD505-2E9C-101B-9397-08002B2CF9AE}" pid="7" name="MSIP_Label_cdde0556-1f76-452e-9e94-03158f226e4e_ActionId">
    <vt:lpwstr>4d452ba2-f5e9-4c93-b836-a6c7c3b56294</vt:lpwstr>
  </property>
  <property fmtid="{D5CDD505-2E9C-101B-9397-08002B2CF9AE}" pid="8" name="MSIP_Label_cdde0556-1f76-452e-9e94-03158f226e4e_ContentBits">
    <vt:lpwstr>0</vt:lpwstr>
  </property>
  <property fmtid="{D5CDD505-2E9C-101B-9397-08002B2CF9AE}" pid="9" name="MSIP_Label_cdde0556-1f76-452e-9e94-03158f226e4e_Tag">
    <vt:lpwstr>10, 3, 0, 1</vt:lpwstr>
  </property>
</Properties>
</file>